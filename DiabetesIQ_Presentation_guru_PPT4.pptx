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7" r:id="rId17"/>
    <p:sldId id="270" r:id="rId18"/>
    <p:sldId id="271" r:id="rId19"/>
    <p:sldId id="272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-82" y="-1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Reconstruction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HbA1c</c:v>
                </c:pt>
                <c:pt idx="1">
                  <c:v>Fasting BS</c:v>
                </c:pt>
                <c:pt idx="2">
                  <c:v>BMI</c:v>
                </c:pt>
                <c:pt idx="3">
                  <c:v>Postprandial BS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-1.9E-2</c:v>
                </c:pt>
                <c:pt idx="1">
                  <c:v>-2E-3</c:v>
                </c:pt>
                <c:pt idx="2">
                  <c:v>-1.7999999999999999E-2</c:v>
                </c:pt>
                <c:pt idx="3">
                  <c:v>-1.2999999999999999E-2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ICMR Reconstruction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HbA1c</c:v>
                </c:pt>
                <c:pt idx="1">
                  <c:v>Fasting BS</c:v>
                </c:pt>
                <c:pt idx="2">
                  <c:v>BMI</c:v>
                </c:pt>
                <c:pt idx="3">
                  <c:v>Postprandial BS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</c:v>
                </c:pt>
                <c:pt idx="1">
                  <c:v>0.37</c:v>
                </c:pt>
                <c:pt idx="2">
                  <c:v>0.09</c:v>
                </c:pt>
                <c:pt idx="3">
                  <c:v>0.18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3803520"/>
        <c:axId val="143805056"/>
      </c:barChart>
      <c:catAx>
        <c:axId val="143803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72"/>
                </a:solidFill>
                <a:latin typeface="Arial"/>
              </a:defRPr>
            </a:pPr>
            <a:endParaRPr lang="en-US"/>
          </a:p>
        </c:txPr>
        <c:crossAx val="143805056"/>
        <c:crosses val="autoZero"/>
        <c:auto val="1"/>
        <c:lblAlgn val="ctr"/>
        <c:lblOffset val="100"/>
        <c:noMultiLvlLbl val="1"/>
      </c:catAx>
      <c:valAx>
        <c:axId val="14380505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72"/>
                </a:solidFill>
                <a:latin typeface="Arial"/>
              </a:defRPr>
            </a:pPr>
            <a:endParaRPr lang="en-US"/>
          </a:p>
        </c:txPr>
        <c:crossAx val="143803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F1 Score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A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6572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XGBoost (Tuned)</c:v>
                </c:pt>
                <c:pt idx="2">
                  <c:v>Random Forest</c:v>
                </c:pt>
                <c:pt idx="3">
                  <c:v>Decision Tree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0.98399999999999999</c:v>
                </c:pt>
                <c:pt idx="1">
                  <c:v>0.98709999999999998</c:v>
                </c:pt>
                <c:pt idx="2">
                  <c:v>0.94030000000000002</c:v>
                </c:pt>
                <c:pt idx="3">
                  <c:v>0.91159999999999997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5396352"/>
        <c:axId val="175397888"/>
      </c:barChart>
      <c:catAx>
        <c:axId val="1753963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72"/>
                </a:solidFill>
                <a:latin typeface="Arial"/>
              </a:defRPr>
            </a:pPr>
            <a:endParaRPr lang="en-US"/>
          </a:p>
        </c:txPr>
        <c:crossAx val="175397888"/>
        <c:crosses val="autoZero"/>
        <c:auto val="1"/>
        <c:lblAlgn val="ctr"/>
        <c:lblOffset val="100"/>
        <c:noMultiLvlLbl val="1"/>
      </c:catAx>
      <c:valAx>
        <c:axId val="175397888"/>
        <c:scaling>
          <c:orientation val="minMax"/>
          <c:max val="1"/>
          <c:min val="0.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72"/>
                </a:solidFill>
                <a:latin typeface="Arial"/>
              </a:defRPr>
            </a:pPr>
            <a:endParaRPr lang="en-US"/>
          </a:p>
        </c:txPr>
        <c:crossAx val="175396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Top 8 Features by Mean |SHAP| Value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 Value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4A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A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A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A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A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A8A6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85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Clinical_Risk_Index ★</c:v>
                </c:pt>
                <c:pt idx="1">
                  <c:v>Glucose_Tolerance</c:v>
                </c:pt>
                <c:pt idx="2">
                  <c:v>Family_History</c:v>
                </c:pt>
                <c:pt idx="3">
                  <c:v>Hypertension</c:v>
                </c:pt>
                <c:pt idx="4">
                  <c:v>BMI</c:v>
                </c:pt>
                <c:pt idx="5">
                  <c:v>Fasting_Blood_Sugar</c:v>
                </c:pt>
                <c:pt idx="6">
                  <c:v>BMI_Activity_Index ★</c:v>
                </c:pt>
                <c:pt idx="7">
                  <c:v>HbA1c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7.2453000000000003</c:v>
                </c:pt>
                <c:pt idx="1">
                  <c:v>1.8469</c:v>
                </c:pt>
                <c:pt idx="2">
                  <c:v>1.6635</c:v>
                </c:pt>
                <c:pt idx="3">
                  <c:v>1.6163000000000001</c:v>
                </c:pt>
                <c:pt idx="4">
                  <c:v>1.4447000000000001</c:v>
                </c:pt>
                <c:pt idx="5">
                  <c:v>0.84199999999999997</c:v>
                </c:pt>
                <c:pt idx="6">
                  <c:v>0.59589999999999999</c:v>
                </c:pt>
                <c:pt idx="7">
                  <c:v>0.5323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5467520"/>
        <c:axId val="175473408"/>
      </c:barChart>
      <c:catAx>
        <c:axId val="17546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72"/>
                </a:solidFill>
                <a:latin typeface="Arial"/>
              </a:defRPr>
            </a:pPr>
            <a:endParaRPr lang="en-US"/>
          </a:p>
        </c:txPr>
        <c:crossAx val="175473408"/>
        <c:crosses val="autoZero"/>
        <c:auto val="1"/>
        <c:lblAlgn val="ctr"/>
        <c:lblOffset val="100"/>
        <c:noMultiLvlLbl val="1"/>
      </c:catAx>
      <c:valAx>
        <c:axId val="175473408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72"/>
                </a:solidFill>
                <a:latin typeface="Arial"/>
              </a:defRPr>
            </a:pPr>
            <a:endParaRPr lang="en-US"/>
          </a:p>
        </c:txPr>
        <c:crossAx val="17546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EFB07-873B-478F-9FFE-83DC6B59F72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5AFDF-0FEB-44D8-9C70-D7B725E00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60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6" y="348344"/>
            <a:ext cx="8080021" cy="4545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672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3374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337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0742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93222"/>
            <a:ext cx="1554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3222"/>
            <a:ext cx="155448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322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86929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436222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4A6572"/>
                </a:solidFill>
              </a:rPr>
              <a:t>Problem, motivation &amp; objectives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03120" y="1293222"/>
            <a:ext cx="1554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1293222"/>
            <a:ext cx="1554480" cy="502920"/>
          </a:xfrm>
          <a:prstGeom prst="rect">
            <a:avLst/>
          </a:prstGeom>
          <a:solidFill>
            <a:srgbClr val="14A8A6"/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29322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76272" y="186929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A8A6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6272" y="2436222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4A6572"/>
                </a:solidFill>
              </a:rPr>
              <a:t>ML pipeline, dataset &amp; feature engineering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94760" y="1293222"/>
            <a:ext cx="1554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94760" y="1293222"/>
            <a:ext cx="155448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129322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67912" y="186929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67912" y="2436222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4A6572"/>
                </a:solidFill>
              </a:rPr>
              <a:t>Models, training, SHAP &amp; Streamlit app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0" y="1293222"/>
            <a:ext cx="1554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293222"/>
            <a:ext cx="1554480" cy="502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29322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59552" y="186929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C653"/>
                </a:solidFill>
              </a:rPr>
              <a:t>Results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59552" y="2436222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4A6572"/>
                </a:solidFill>
              </a:rPr>
              <a:t>Metrics, SHAP findings &amp; model comparison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78040" y="1293222"/>
            <a:ext cx="1554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5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78040" y="1293222"/>
            <a:ext cx="1554480" cy="502920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129322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51192" y="186929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572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51192" y="2436222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4A6572"/>
                </a:solidFill>
              </a:rPr>
              <a:t>Key findings &amp; future scope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59382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6852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12480" y="486852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2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3108960" cy="3383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7B"/>
                </a:solidFill>
              </a:rPr>
              <a:t>India's Diabetes Crisis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</a:rPr>
              <a:t>101M+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1579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Diabetic adults in India (ICMR 2023)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968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</a:rPr>
              <a:t>136M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Pre-diabetic adults at risk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3467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</a:rPr>
              <a:t>#1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India ranked top globally for diabetes burden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40965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</a:rPr>
              <a:t>50%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4407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Cases undiagnosed due to lack of screening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49040" y="12999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</a:rPr>
              <a:t>Current System Limitations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16916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Existing tools trained on Western/PIMA data — not calibrated for Indian BMI thresholds or comorbidity patterns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Binary yes/no output with no explanation of WHY — doctors cannot trust black-box predictions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Clinical features only — lifestyle factors (stress, activity, diet) are completely ignored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No What-if Simulation — patients cannot see how lifestyle changes reduce their risk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No population benchmarking — no comparison against Indian national reference values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3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27432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4173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</a:rPr>
              <a:t>🎯  Accurate Prediction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1208" y="1801368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Train LR, RF, XGBoost &amp; DL models with 5-fold CV. Achieve ROC-AUC ≥ 0.99 on Indian population-calibrated data.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9272" y="13258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325880"/>
            <a:ext cx="27432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173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</a:rPr>
              <a:t>🔍  SHAP Explainability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29000" y="1801368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Provide per-patient SHAP waterfall explanations. Tell doctors exactly WHY a risk prediction was made.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27064" y="13258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27064" y="1325880"/>
            <a:ext cx="27432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4173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</a:rPr>
              <a:t>🧬  Risk Stratification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36792" y="1801368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Classify patients into Low / Medium / High risk bands — not just diabetic/not. Enables tiered clinical intervention.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63240"/>
            <a:ext cx="27432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1546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</a:rPr>
              <a:t>🔮  What-if Simulation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1208" y="3538728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Model 90-day risk reduction from realistic lifestyle changes. Turn predictions into actionable goals.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19272" y="306324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9272" y="3063240"/>
            <a:ext cx="27432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1546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</a:rPr>
              <a:t>🇮🇳  Indian Population Focus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29000" y="3538728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Apply ICMR 2023 BMI thresholds, diagnostic criteria, and national survey benchmarks throughout.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27064" y="306324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27064" y="3063240"/>
            <a:ext cx="27432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31546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</a:rPr>
              <a:t>🌐  Deployed Web App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36792" y="3538728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4-page Streamlit app with light/dark theme, Risk DNA radar, dual-model comparison, and personalised insights.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4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64008" cy="1051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182880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7B"/>
                </a:solidFill>
              </a:rPr>
              <a:t>5,292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84023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Patient Records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261872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261872"/>
            <a:ext cx="64008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353312"/>
            <a:ext cx="182880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A261"/>
                </a:solidFill>
              </a:rPr>
              <a:t>27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0" y="184023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Original Features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1261872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261872"/>
            <a:ext cx="64008" cy="10515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53312"/>
            <a:ext cx="182880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C653"/>
                </a:solidFill>
              </a:rPr>
              <a:t>34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37760" y="184023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After Engineering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95160" y="1261872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1261872"/>
            <a:ext cx="64008" cy="1051560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353312"/>
            <a:ext cx="182880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6572"/>
                </a:solidFill>
              </a:rPr>
              <a:t>55/45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32320" y="184023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Diabetic / Non-Diabetic Split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2487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Feature Groups in the Dataset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862072"/>
          <a:ext cx="7955280" cy="1871472"/>
        </p:xfrm>
        <a:graphic>
          <a:graphicData uri="http://schemas.openxmlformats.org/drawingml/2006/table">
            <a:tbl>
              <a:tblPr/>
              <a:tblGrid>
                <a:gridCol w="1280160"/>
                <a:gridCol w="3657600"/>
                <a:gridCol w="640080"/>
                <a:gridCol w="237744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Key Features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</a:rPr>
                        <a:t>Clinical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HbA1c, Fasting BS, Postprandial BS, BMI, Waist-Hip Ratio, Glucose Tolerance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Primary diagnostic markers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A261"/>
                          </a:solidFill>
                        </a:rPr>
                        <a:t>Lifestyle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Physical Activity, Stress Level, Smoking, Alcohol, Diet Type, Urban/Rural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Modifiable risk drivers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</a:rPr>
                        <a:t>Comorbidity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Hypertension, Thyroid, PCOS, Medication, Family History, Regular Checkups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Compounding conditions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C653"/>
                          </a:solidFill>
                        </a:rPr>
                        <a:t>Engineered ✦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Clinical_Risk_Index, BMI_Category, HbA1c_Category, Lifestyle_Risk_Score, Comorbidity_Score…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DC653"/>
                          </a:solidFill>
                        </a:rPr>
                        <a:t>+8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Domain-informed derived features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5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Challenge: Label Reconstruction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3931920" cy="1481328"/>
          </a:xfrm>
          <a:prstGeom prst="rect">
            <a:avLst/>
          </a:prstGeom>
          <a:solidFill>
            <a:srgbClr val="FFF3F3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19175"/>
            <a:ext cx="3749040" cy="626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⚠  Problem Discovered in EDA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00784"/>
            <a:ext cx="3749040" cy="842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1B2A"/>
                </a:solidFill>
              </a:rPr>
              <a:t>Original labels were randomly assigned
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HbA1c correlation with target: </a:t>
            </a:r>
            <a:r>
              <a:rPr lang="en-US" sz="1050" b="1" dirty="0">
                <a:solidFill>
                  <a:srgbClr val="E63946"/>
                </a:solidFill>
              </a:rPr>
              <a:t>-0.019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Fasting Blood Sugar correlation: </a:t>
            </a:r>
            <a:r>
              <a:rPr lang="en-US" sz="1050" b="1" dirty="0" smtClean="0">
                <a:solidFill>
                  <a:srgbClr val="E63946"/>
                </a:solidFill>
              </a:rPr>
              <a:t>-</a:t>
            </a:r>
            <a:r>
              <a:rPr lang="en-US" sz="1050" b="1" dirty="0">
                <a:solidFill>
                  <a:srgbClr val="E63946"/>
                </a:solidFill>
              </a:rPr>
              <a:t>0.002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</a:rPr>
              <a:t>1,920 patients with diabetic-range HbA1c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</a:rPr>
              <a:t>labelled as 'No Diabetes'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61872"/>
            <a:ext cx="4114800" cy="1481328"/>
          </a:xfrm>
          <a:prstGeom prst="rect">
            <a:avLst/>
          </a:prstGeom>
          <a:solidFill>
            <a:srgbClr val="F0FFF4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19175"/>
            <a:ext cx="3840480" cy="626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</a:rPr>
              <a:t>✅  ICMR-Based Label Reconstruction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495425"/>
            <a:ext cx="3840480" cy="1165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Weighted clinical risk score using ICMR 2023:
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0D1B2A"/>
                </a:solidFill>
              </a:rPr>
              <a:t>HbA1c (50%) + FBS (30%) + PPBS (20%) + risk factors
</a:t>
            </a:r>
            <a:r>
              <a:rPr lang="en-US" sz="1050" dirty="0" smtClean="0">
                <a:solidFill>
                  <a:srgbClr val="0D1B2A"/>
                </a:solidFill>
              </a:rPr>
              <a:t>Threshold </a:t>
            </a:r>
            <a:r>
              <a:rPr lang="en-US" sz="1050" dirty="0">
                <a:solidFill>
                  <a:srgbClr val="0D1B2A"/>
                </a:solidFill>
              </a:rPr>
              <a:t>at 45th percentile → 55/45 </a:t>
            </a:r>
            <a:r>
              <a:rPr lang="en-US" sz="1050" dirty="0" smtClean="0">
                <a:solidFill>
                  <a:srgbClr val="0D1B2A"/>
                </a:solidFill>
              </a:rPr>
              <a:t>split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HbA1c correlation after: </a:t>
            </a:r>
            <a:r>
              <a:rPr lang="en-US" sz="1050" b="1" dirty="0">
                <a:solidFill>
                  <a:srgbClr val="2DC653"/>
                </a:solidFill>
              </a:rPr>
              <a:t>+0.70  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0832" y="1975104"/>
            <a:ext cx="27432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901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7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28529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Correlation with Diabetes Target — Before vs After</a:t>
            </a:r>
            <a:endParaRPr lang="en-US" sz="12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11480" y="3200400"/>
          <a:ext cx="832104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6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960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96012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10896" y="1828800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7B"/>
                </a:solidFill>
              </a:rPr>
              <a:t>Data Loading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" y="2304288"/>
            <a:ext cx="8961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5,292×27 dataset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Audit nulls, dtypes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34440" y="1993392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53312" y="1325880"/>
            <a:ext cx="960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53312" y="1325880"/>
            <a:ext cx="960120" cy="438912"/>
          </a:xfrm>
          <a:prstGeom prst="rect">
            <a:avLst/>
          </a:prstGeom>
          <a:solidFill>
            <a:srgbClr val="14A8A6"/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132588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89888" y="1828800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A8A6"/>
                </a:solidFill>
              </a:rPr>
              <a:t>Preprocessing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89888" y="2304288"/>
            <a:ext cx="8961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Fix PCOS types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Impute Alcohol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ICMR labels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13432" y="1993392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32304" y="1325880"/>
            <a:ext cx="960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32304" y="1325880"/>
            <a:ext cx="96012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32304" y="132588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468880" y="1828800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</a:rPr>
              <a:t>EDA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68880" y="2304288"/>
            <a:ext cx="8961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KDE plots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Correlation heatmap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Outlier IQR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92424" y="1993392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11296" y="1325880"/>
            <a:ext cx="960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11296" y="1325880"/>
            <a:ext cx="960120" cy="43891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11296" y="132588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547872" y="1828800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</a:rPr>
              <a:t>Feature Eng.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47872" y="2304288"/>
            <a:ext cx="8961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8 new features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27→34 columns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71416" y="1993392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90288" y="1325880"/>
            <a:ext cx="960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0288" y="1325880"/>
            <a:ext cx="96012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0288" y="132588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626864" y="1828800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7B"/>
                </a:solidFill>
              </a:rPr>
              <a:t>Model Training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26864" y="2304288"/>
            <a:ext cx="8961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LR, DT, RF,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XGBoost, DL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5-fold CV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50408" y="1993392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1325880"/>
            <a:ext cx="960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69280" y="1325880"/>
            <a:ext cx="960120" cy="438912"/>
          </a:xfrm>
          <a:prstGeom prst="rect">
            <a:avLst/>
          </a:prstGeom>
          <a:solidFill>
            <a:srgbClr val="14A8A6"/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132588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705856" y="1828800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A8A6"/>
                </a:solidFill>
              </a:rPr>
              <a:t>Evaluation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05856" y="2304288"/>
            <a:ext cx="8961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F1, ROC-AUC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Threshold @ 0.10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Recall=1.00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629400" y="1993392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8272" y="1325880"/>
            <a:ext cx="960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48272" y="1325880"/>
            <a:ext cx="96012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48272" y="132588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784848" y="1828800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</a:rPr>
              <a:t>Tuning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84848" y="2304288"/>
            <a:ext cx="8961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RandomizedSearchCV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Overfit 0.039→0.014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708392" y="1993392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27264" y="1325880"/>
            <a:ext cx="960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827264" y="1325880"/>
            <a:ext cx="960120" cy="43891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27264" y="132588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863840" y="1828800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</a:rPr>
              <a:t>SHAP + Deploy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863840" y="2304288"/>
            <a:ext cx="8961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Global+local SHAP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572"/>
                </a:solidFill>
              </a:rPr>
              <a:t>Streamlit 4-page app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7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8 New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64008" cy="11155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31673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</a:rPr>
              <a:t>Clinical_Risk_Index  ⭐ #1 predictor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9496" y="159105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572"/>
                </a:solidFill>
              </a:rPr>
              <a:t>Formula: HbA1c/12×0.5 + FBS/180×0.3 + PPBS/300×0.2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9496" y="1856232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Weighted composite of top 3 WHO diagnostic markers. SHAP: 7.24 (4× higher than any raw feature).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61872"/>
            <a:ext cx="64008" cy="11155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31673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BMI_Category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91456" y="159105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572"/>
                </a:solidFill>
              </a:rPr>
              <a:t>Formula: Underweight &lt;18.5 | Normal &lt;23 | Overweight &lt;27.5 | Obese ≥27.5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91456" y="1856232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Indian-specific thresholds (ICMR 2023). Western threshold of 30 misclassifies Asian patients.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49631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496312"/>
            <a:ext cx="64008" cy="11155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255117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</a:rPr>
              <a:t>HbA1c_Category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9496" y="282549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572"/>
                </a:solidFill>
              </a:rPr>
              <a:t>Formula: Normal &lt;5.7% | Pre-Diabetic 5.7–6.4% | Diabetic_Range ≥6.5%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9496" y="3090672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WHO diagnostic bands. Converts continuous value into clinically meaningful threshold zones.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49631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96312"/>
            <a:ext cx="64008" cy="1115568"/>
          </a:xfrm>
          <a:prstGeom prst="rect">
            <a:avLst/>
          </a:prstGeom>
          <a:solidFill>
            <a:srgbClr val="14A8A6"/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255117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8A6"/>
                </a:solidFill>
              </a:rPr>
              <a:t>Lifestyle_Risk_Score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91456" y="282549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572"/>
                </a:solidFill>
              </a:rPr>
              <a:t>Formula: Smoking + Alcohol + Low Activity + High Stress (0–4)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91456" y="3090672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Aggregates 4 modifiable risk factors into single lifestyle burden score.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373075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65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730752"/>
            <a:ext cx="64008" cy="1115568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" y="378561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572"/>
                </a:solidFill>
              </a:rPr>
              <a:t>Comorbidity_Score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9496" y="405993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572"/>
                </a:solidFill>
              </a:rPr>
              <a:t>Formula: Hypertension + Thyroid + PCOS + Chronic Medication (0–4)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9496" y="4325112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Captures compounding effect of co-existing conditions on insulin resistance.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73075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30752"/>
            <a:ext cx="64008" cy="1115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378561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</a:rPr>
              <a:t>BMI_Activity_Index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91456" y="405993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572"/>
                </a:solidFill>
              </a:rPr>
              <a:t>Formula: BMI × Physical_Activity_Level (Low=1, Med=2, High=3)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91456" y="4325112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Interaction term: high BMI + low activity = amplified risk beyond additive effect.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8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2011680" cy="5120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Best CV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572"/>
                </a:solidFill>
              </a:rPr>
              <a:t>PRIMARY MODEL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Params: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A6572"/>
                </a:solidFill>
              </a:rPr>
              <a:t>C=tuned, solver=lbfgs, class_weight=balanced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3310128"/>
            <a:ext cx="184708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D1B2A"/>
                </a:solidFill>
              </a:rPr>
              <a:t>Best CV F1 (0.984) with lowest overfit gap (0.003). Linearly separable after feature engineering.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87752" y="1261872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87752" y="1261872"/>
            <a:ext cx="2011680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126187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SHAP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79192" y="184708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XGBoost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79192" y="2304288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572"/>
                </a:solidFill>
              </a:rPr>
              <a:t>SECONDARY MODEL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79192" y="257860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Params: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79192" y="2743200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A6572"/>
                </a:solidFill>
              </a:rPr>
              <a:t>max_depth=3, lr=0.2, subsample=0.6, reg_lambda=2.0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79192" y="3310128"/>
            <a:ext cx="184708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D1B2A"/>
                </a:solidFill>
              </a:rPr>
              <a:t>CV F1=0.987 after tuning. Best SHAP support via TreeExplainer. Overfit gap reduced 0.040→0.014.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64024" y="1261872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64024" y="1261872"/>
            <a:ext cx="2011680" cy="512064"/>
          </a:xfrm>
          <a:prstGeom prst="rect">
            <a:avLst/>
          </a:prstGeom>
          <a:solidFill>
            <a:srgbClr val="14A8A6"/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126187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Benchmark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55464" y="184708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A8A6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304288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572"/>
                </a:solidFill>
              </a:rPr>
              <a:t>COMPARISON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55464" y="257860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Params: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55464" y="2743200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A6572"/>
                </a:solidFill>
              </a:rPr>
              <a:t>n_estimators=200, max_depth=10, n_jobs=-1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55464" y="3310128"/>
            <a:ext cx="184708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D1B2A"/>
                </a:solidFill>
              </a:rPr>
              <a:t>CV F1=0.940. Handles non-linearity well. Used as benchmark between LR and XGBoost.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40296" y="1261872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5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0296" y="1261872"/>
            <a:ext cx="2011680" cy="512064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0296" y="126187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🧪 Experiment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31736" y="184708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572"/>
                </a:solidFill>
              </a:rPr>
              <a:t>Deep Learning MLP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31736" y="2304288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572"/>
                </a:solidFill>
              </a:rPr>
              <a:t>EXPERIMENTAL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31736" y="257860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Params: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31736" y="2743200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A6572"/>
                </a:solidFill>
              </a:rPr>
              <a:t>128→64→32, BatchNorm, Dropout(0.3), Adam, BCE loss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31736" y="3310128"/>
            <a:ext cx="184708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D1B2A"/>
                </a:solidFill>
              </a:rPr>
              <a:t>PyTorch feedforward network. Confirms tree models outperform DL on tabular data &lt;10K rows (Grinsztajn 2022).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9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&amp; Evaluation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35331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</a:rPr>
              <a:t>Training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Stratified 80/20 train-test split (preserves 55/45 class ratio)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5-fold StratifiedKFold cross-validation on training set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Metrics: Accuracy, F1, ROC-AUC, Precision, Recall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RandomizedSearchCV (n_iter=30) for hyperparameter tuning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Threshold optimised to 0.10 to maximise Recall (healthcare priority)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Both models saved: lr_final_model.pkl, xgb_final_model.pkl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61872"/>
            <a:ext cx="4114800" cy="1600200"/>
          </a:xfrm>
          <a:prstGeom prst="rect">
            <a:avLst/>
          </a:prstGeom>
          <a:solidFill>
            <a:srgbClr val="1A3A2A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91456" y="1353312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</a:rPr>
              <a:t>Why Threshold = 0.10?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91456" y="1719072"/>
            <a:ext cx="38770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3946"/>
                </a:solidFill>
              </a:rPr>
              <a:t>Default 0.50 → 23 missed diabetics
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C653"/>
                </a:solidFill>
              </a:rPr>
              <a:t>Threshold 0.10 → 0 missed diabetics
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In healthcare: </a:t>
            </a:r>
            <a:r>
              <a:rPr lang="en-US" sz="1000" b="1" dirty="0">
                <a:solidFill>
                  <a:srgbClr val="F4A261"/>
                </a:solidFill>
              </a:rPr>
              <a:t>False Negative &gt;&gt; False Positive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Missed diagnosis = untreated condition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971800"/>
            <a:ext cx="411480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91456" y="3063240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</a:rPr>
              <a:t>Train/Test Split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91456" y="3429000"/>
            <a:ext cx="3163824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3429000"/>
            <a:ext cx="676656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3429000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Train: 4,233 (80%)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73568" y="34290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Test: 1,059 (20%)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91456" y="3840480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572"/>
                </a:solidFill>
              </a:rPr>
              <a:t>Stratified split preserves class ratio in both sets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10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Layer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832104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16736"/>
            <a:ext cx="8092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</a:rPr>
              <a:t>What is SHAP?  —  SHapley Additive exPlanations (Lundberg &amp; Lee, NeurIPS 2017)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09344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Based on cooperative game theory Shapley values. Each feature is a 'player'. Its SHAP value = its fair contribution to the prediction, averaged across all possible orderings of features.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2788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0428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</a:rPr>
              <a:t>📊  Global Importance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260604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88920"/>
            <a:ext cx="263347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Mean |SHAP| across all test patients.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Shows which features matter OVERALL.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Clinical_Risk_Index = 7.24 (dominant)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5848" y="2212848"/>
            <a:ext cx="2788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47288" y="230428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</a:rPr>
              <a:t>💧  Waterfall Charts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47288" y="2697480"/>
            <a:ext cx="2606040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2788920"/>
            <a:ext cx="263347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Per-patient explanation.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Shows how each feature pushed THIS prediction up or down.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3 patients: High / Low / Borderline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0216" y="2212848"/>
            <a:ext cx="2788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91656" y="230428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C653"/>
                </a:solidFill>
              </a:rPr>
              <a:t>📈  Dependence Plots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91656" y="2697480"/>
            <a:ext cx="2606040" cy="27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2788920"/>
            <a:ext cx="263347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How feature VALUE affects SHAP contribution.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As HbA1c increases → SHAP impact increases.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Top 6 features plotted.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572000"/>
            <a:ext cx="8321040" cy="201168"/>
          </a:xfrm>
          <a:prstGeom prst="rect">
            <a:avLst/>
          </a:prstGeom>
          <a:solidFill>
            <a:srgbClr val="D0F0E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5720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E7C7B"/>
                </a:solidFill>
              </a:rPr>
              <a:t>[ Insert: shap_summary_beeswarm.png from Colab Cell 8.1 output on the next slide 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11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 — Global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73596"/>
            <a:ext cx="8321040" cy="3383280"/>
          </a:xfrm>
          <a:prstGeom prst="rect">
            <a:avLst/>
          </a:prstGeom>
          <a:solidFill>
            <a:srgbClr val="F0F8F8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377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4319954"/>
            <a:ext cx="8321040" cy="3251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72"/>
                </a:solidFill>
              </a:rPr>
              <a:t>Beeswarm plot showing global feature impact — red = high feature value, blue = low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Key Finding: Clinical_Risk_Index (engineered) = 7.24 mean |SHAP| — 4× higher than any raw feature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12 / 18</a:t>
            </a:r>
            <a:endParaRPr lang="en-US" sz="800" dirty="0"/>
          </a:p>
        </p:txBody>
      </p:sp>
      <p:pic>
        <p:nvPicPr>
          <p:cNvPr id="5122" name="Picture 2" descr="C:\Users\MY PC\Downloads\shap_summary_beeswar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524" y="1218812"/>
            <a:ext cx="6424246" cy="3195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DiabetesIQ — Streamlit Web Application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02996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2029968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Page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77393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📋  Patient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176272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Grouped form: Clinical, Lifestyle, Comorbidity sections. 26 fields with clinical tooltips.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87752" y="1261872"/>
            <a:ext cx="202996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87752" y="1261872"/>
            <a:ext cx="2029968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26187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Page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60904" y="177393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📊  Risk 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60904" y="2176272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Ensemble risk score, dual-model comparison, Risk DNA radar (5-axis), Clinical vs Lifestyle split, SHAP chart.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64024" y="1261872"/>
            <a:ext cx="202996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64024" y="1261872"/>
            <a:ext cx="2029968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26187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Page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37176" y="177393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🔮  What-if Simulator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2176272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Manual explorer with live risk gauge. 90-Day Recovery Simulation: project risk after lifestyle changes.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0296" y="1261872"/>
            <a:ext cx="202996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0296" y="1261872"/>
            <a:ext cx="2029968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126187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Page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13448" y="177393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💡  Personalised Insights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13448" y="2176272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SHAP-driven insights per patient. Ranked action plan. Indian population benchmarking panel (ICMR data).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6393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Unique Technical Features: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95020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☀️/🌙 Light &amp; Dark theme toggle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5-axis Risk DNA radar chart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Dual-model agreement score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Indian population benchmarking (ICMR)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90-day recovery simulation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Module-based architecture (predictor, explainer, recommender)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547872"/>
            <a:ext cx="8321040" cy="54864"/>
          </a:xfrm>
          <a:prstGeom prst="rect">
            <a:avLst/>
          </a:prstGeom>
          <a:solidFill>
            <a:srgbClr val="D0F0E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13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4160520" cy="1874520"/>
          </a:xfrm>
          <a:prstGeom prst="rect">
            <a:avLst/>
          </a:prstGeom>
          <a:solidFill>
            <a:srgbClr val="1A2B3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162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0" y="1261872"/>
            <a:ext cx="4160520" cy="1874520"/>
          </a:xfrm>
          <a:prstGeom prst="rect">
            <a:avLst/>
          </a:prstGeom>
          <a:solidFill>
            <a:srgbClr val="1A2B3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0162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7B"/>
                </a:solidFill>
              </a:rPr>
              <a:t>[ PASTE: Page 2 — Risk Dashboard (radar + SHAP) 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3200400"/>
            <a:ext cx="4160520" cy="1572768"/>
          </a:xfrm>
          <a:prstGeom prst="rect">
            <a:avLst/>
          </a:prstGeom>
          <a:solidFill>
            <a:srgbClr val="1A2B3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0390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7B"/>
                </a:solidFill>
              </a:rPr>
              <a:t>[ PASTE: Page 3 — What-if Simulator screenshot 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3200400"/>
            <a:ext cx="4160520" cy="1572768"/>
          </a:xfrm>
          <a:prstGeom prst="rect">
            <a:avLst/>
          </a:prstGeom>
          <a:solidFill>
            <a:srgbClr val="1A2B3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80390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7B"/>
                </a:solidFill>
              </a:rPr>
              <a:t>[ PASTE: Page 4 — Insights &amp; Benchmarking screenshot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14 / 18</a:t>
            </a:r>
            <a:endParaRPr lang="en-US" sz="800" dirty="0"/>
          </a:p>
        </p:txBody>
      </p:sp>
      <p:pic>
        <p:nvPicPr>
          <p:cNvPr id="2050" name="Picture 2" descr="C:\Users\MY PC\OneDrive\Pictures\Screenshots 1\2026-03-31 (3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969" y="1178575"/>
            <a:ext cx="9334498" cy="5555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MY PC\OneDrive\Pictures\Screenshots 1\2026-03-31 (4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13" y="158372"/>
            <a:ext cx="4458842" cy="250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MY PC\OneDrive\Pictures\Screenshots 1\2026-03-31 (5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308" y="2330414"/>
            <a:ext cx="4749460" cy="267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79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MY PC\OneDrive\Pictures\Screenshots 1\2026-03-31 (6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6720" y="-438150"/>
            <a:ext cx="10073640" cy="566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22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161512"/>
              </p:ext>
            </p:extLst>
          </p:nvPr>
        </p:nvGraphicFramePr>
        <p:xfrm>
          <a:off x="411480" y="1261872"/>
          <a:ext cx="8046720" cy="1975104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97280"/>
                <a:gridCol w="914400"/>
                <a:gridCol w="1188720"/>
                <a:gridCol w="164592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CV F1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Overfit Gap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7C7B"/>
                          </a:solidFill>
                        </a:rPr>
                        <a:t>Logistic Regression ⭐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7C7B"/>
                          </a:solidFill>
                        </a:rPr>
                        <a:t>0.9840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7C7B"/>
                          </a:solidFill>
                        </a:rPr>
                        <a:t>0.9990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C653"/>
                          </a:solidFill>
                        </a:rPr>
                        <a:t>1.0000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C653"/>
                          </a:solidFill>
                        </a:rPr>
                        <a:t>0.0028 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7C7B"/>
                          </a:solidFill>
                        </a:rPr>
                        <a:t>Primary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</a:rPr>
                        <a:t>XGBoost (Tuned)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</a:rPr>
                        <a:t>0.9871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0.9952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</a:rPr>
                        <a:t>0.0142 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</a:rPr>
                        <a:t>Secondary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0.9873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0.9330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</a:rPr>
                        <a:t>0.0405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Comparison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0.9116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0.9682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0.8900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0.0277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Deep Learning MLP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 smtClean="0">
                          <a:solidFill>
                            <a:srgbClr val="4A6572"/>
                          </a:solidFill>
                        </a:rPr>
                        <a:t>0.9643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 smtClean="0">
                          <a:solidFill>
                            <a:srgbClr val="4A6572"/>
                          </a:solidFill>
                        </a:rPr>
                        <a:t>1.0000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 smtClean="0">
                          <a:solidFill>
                            <a:srgbClr val="4A6572"/>
                          </a:solidFill>
                        </a:rPr>
                        <a:t>0.9900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6572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4A6572"/>
                          </a:solidFill>
                        </a:rPr>
                        <a:t>Experimental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411480" y="3493008"/>
          <a:ext cx="502920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577840" y="3493008"/>
            <a:ext cx="3154680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705856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705856" y="3877056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CEFF1"/>
                </a:solidFill>
              </a:rPr>
              <a:t>LR outperforms on CV F1 with near-zero overfitting</a:t>
            </a:r>
            <a:endParaRPr lang="en-US" sz="9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CEFF1"/>
                </a:solidFill>
              </a:rPr>
              <a:t>XGBoost best for SHAP (TreeExplainer)</a:t>
            </a:r>
            <a:endParaRPr lang="en-US" sz="9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CEFF1"/>
                </a:solidFill>
              </a:rPr>
              <a:t>DL confirms tree models &gt; neural nets on tabular data</a:t>
            </a:r>
            <a:endParaRPr lang="en-US" sz="9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CEFF1"/>
                </a:solidFill>
              </a:rPr>
              <a:t>Ensemble probability used in final app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15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Results &amp; Risk Stratification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261872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68172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A261"/>
                </a:solidFill>
              </a:rPr>
              <a:t>★ = Engineered features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0" y="1261872"/>
            <a:ext cx="3063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79008" y="1335024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Risk Stratification (Test Set)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779008" y="1737360"/>
            <a:ext cx="2834640" cy="804672"/>
          </a:xfrm>
          <a:prstGeom prst="rect">
            <a:avLst/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70448" y="17922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</a:rPr>
              <a:t>🔴  High Risk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870448" y="2121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72"/>
                </a:solidFill>
              </a:rPr>
              <a:t>584 patients  (55.1%)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79008" y="2697480"/>
            <a:ext cx="2834640" cy="804672"/>
          </a:xfrm>
          <a:prstGeom prst="rect">
            <a:avLst/>
          </a:prstGeom>
          <a:solidFill>
            <a:srgbClr val="FFFDF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70448" y="27523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</a:rPr>
              <a:t>🟡  Medium Risk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870448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72"/>
                </a:solidFill>
              </a:rPr>
              <a:t>5 patients  (0.5%)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79008" y="3657600"/>
            <a:ext cx="2834640" cy="804672"/>
          </a:xfrm>
          <a:prstGeom prst="rect">
            <a:avLst/>
          </a:prstGeom>
          <a:solidFill>
            <a:srgbClr val="F0FFF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0448" y="37124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C653"/>
                </a:solidFill>
              </a:rPr>
              <a:t>🟢  Low Risk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870448" y="4041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72"/>
                </a:solidFill>
              </a:rPr>
              <a:t>470 patients  (44.4%)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79008" y="46451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6572"/>
                </a:solidFill>
              </a:rPr>
              <a:t>LR Threshold = 0.10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4A6572"/>
                </a:solidFill>
              </a:rPr>
              <a:t>Bands: Low&lt;0.30 | Medium 0.30–0.60 | High&gt;0.60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16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384048" cy="1508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840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38988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</a:rPr>
              <a:t>Feature Engineering Adds Measurable Value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2240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Clinical_Risk_Index (engineered) = mean |SHAP| 7.24 — 4× higher than any raw clinical feature. Domain knowledge beats raw data.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55848" y="129844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298448"/>
            <a:ext cx="384048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298448"/>
            <a:ext cx="3840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13048" y="138988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LR &gt; DL on Tabular Healthcare 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3048" y="1828800"/>
            <a:ext cx="2240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Logistic Regression CV F1 = 0.984 with overfit gap 0.003. DL (MLP) confirmed worse — consistent with Grinsztajn et al. NeurIPS 2022.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0216" y="129844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0216" y="1298448"/>
            <a:ext cx="384048" cy="15087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298448"/>
            <a:ext cx="3840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57416" y="138988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</a:rPr>
              <a:t>Threshold Tuning is Critical in Healthcare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57416" y="1828800"/>
            <a:ext cx="2240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Default threshold 0.50 → 23 missed diagnoses. Threshold 0.10 → 0 missed. Recall = 1.00 achieved by clinically justified threshold selection.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944368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944368"/>
            <a:ext cx="384048" cy="1508760"/>
          </a:xfrm>
          <a:prstGeom prst="rect">
            <a:avLst/>
          </a:prstGeom>
          <a:solidFill>
            <a:srgbClr val="14A8A6"/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44368"/>
            <a:ext cx="3840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03580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8A6"/>
                </a:solidFill>
              </a:rPr>
              <a:t>Explainability Enables Clinical Trust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3474720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Per-patient SHAP waterfall charts show exactly why risk is high. Clinical vs Lifestyle domain split guides intervention type.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944368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5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44368"/>
            <a:ext cx="384048" cy="1508760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44368"/>
            <a:ext cx="3840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303580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572"/>
                </a:solidFill>
              </a:rPr>
              <a:t>Indian Population Context Matters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12080" y="3474720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6572"/>
                </a:solidFill>
              </a:rPr>
              <a:t>ICMR thresholds (BMI ≥23, not 30), national benchmarking, and ICMR-calibrated labels make this system uniquely relevant for Indian patients.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590288"/>
            <a:ext cx="83210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5902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7C7B"/>
                </a:solidFill>
              </a:rPr>
              <a:t>Future Scope:  Real clinical dataset validation  •  Federated learning  •  IoT wearable integration  •  Multilingual UI  •  EHR / HIS integration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Smart Diabetes Detection System  |  Aditya College of Engineering &amp; Technology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17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0E7C7B">
              <a:alpha val="12000"/>
            </a:srgbClr>
          </a:solidFill>
          <a:ln w="12700">
            <a:solidFill>
              <a:srgbClr val="14A8A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560320" cy="2560320"/>
          </a:xfrm>
          <a:prstGeom prst="ellipse">
            <a:avLst/>
          </a:prstGeom>
          <a:solidFill>
            <a:srgbClr val="0E7C7B">
              <a:alpha val="12000"/>
            </a:srgbClr>
          </a:solidFill>
          <a:ln w="12700">
            <a:solidFill>
              <a:srgbClr val="14A8A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11480" y="181051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E7C7B"/>
                </a:solidFill>
              </a:rPr>
              <a:t>Smart Diabetes Detection System  —  DiabetesIQ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331720"/>
            <a:ext cx="274320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87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Aditya College of Engineering &amp; Technology (A)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9806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</a:rPr>
              <a:t>Department of Computer Science &amp; Engineering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090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EC5"/>
                </a:solidFill>
              </a:rPr>
              <a:t>Guide: Mr. </a:t>
            </a:r>
            <a:r>
              <a:rPr lang="en-US" sz="1050" dirty="0" err="1" smtClean="0">
                <a:solidFill>
                  <a:srgbClr val="B0BEC5"/>
                </a:solidFill>
              </a:rPr>
              <a:t>M.Kiran</a:t>
            </a:r>
            <a:r>
              <a:rPr lang="en-US" sz="1050" dirty="0" smtClean="0">
                <a:solidFill>
                  <a:srgbClr val="B0BEC5"/>
                </a:solidFill>
              </a:rPr>
              <a:t> </a:t>
            </a:r>
            <a:r>
              <a:rPr lang="en-US" sz="1050" dirty="0" err="1" smtClean="0">
                <a:solidFill>
                  <a:srgbClr val="B0BEC5"/>
                </a:solidFill>
              </a:rPr>
              <a:t>Bhagavan</a:t>
            </a:r>
            <a:r>
              <a:rPr lang="en-US" sz="1050" dirty="0" smtClean="0">
                <a:solidFill>
                  <a:srgbClr val="B0BEC5"/>
                </a:solidFill>
              </a:rPr>
              <a:t>  </a:t>
            </a:r>
            <a:r>
              <a:rPr lang="en-US" sz="1050" dirty="0">
                <a:solidFill>
                  <a:srgbClr val="B0BEC5"/>
                </a:solidFill>
              </a:rPr>
              <a:t>•  Academic Year: 2025–2026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</a:rPr>
              <a:t>Questions &amp; Discussion Welcome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DiabetesIQ  •  Explainable Risk Intelligence for the Indian Population  •  SHAP • LR • XGBoost • PyTorch • Streamlit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1902</Words>
  <Application>Microsoft Office PowerPoint</Application>
  <PresentationFormat>On-screen Show (16:9)</PresentationFormat>
  <Paragraphs>379</Paragraphs>
  <Slides>20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Diabetes Detection System</dc:title>
  <dc:subject>PptxGenJS Presentation</dc:subject>
  <dc:creator>DiabetesIQ Team</dc:creator>
  <cp:lastModifiedBy>MY PC</cp:lastModifiedBy>
  <cp:revision>6</cp:revision>
  <dcterms:created xsi:type="dcterms:W3CDTF">2026-04-01T11:51:00Z</dcterms:created>
  <dcterms:modified xsi:type="dcterms:W3CDTF">2026-04-01T12:47:16Z</dcterms:modified>
</cp:coreProperties>
</file>